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-731520"/>
            <a:ext cx="2926080" cy="2926080"/>
          </a:xfrm>
          <a:prstGeom prst="ellipse">
            <a:avLst/>
          </a:prstGeom>
          <a:solidFill>
            <a:srgbClr val="1B3A6B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321040" y="274320"/>
            <a:ext cx="1828800" cy="1828800"/>
          </a:xfrm>
          <a:prstGeom prst="ellipse">
            <a:avLst/>
          </a:prstGeom>
          <a:solidFill>
            <a:srgbClr val="2D7DD2">
              <a:alpha val="3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256032"/>
            <a:ext cx="1371600" cy="475488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5603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498080" y="256032"/>
            <a:ext cx="1371600" cy="47548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0" y="25603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9144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spc="10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</a:t>
            </a:r>
            <a:endParaRPr lang="en-US" sz="76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 for Learning And Search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5760" y="234086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RAG-Powered Internal Knowledge Assistant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" y="27889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knowledge discovery through intelligent algorithms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4279392"/>
            <a:ext cx="9144000" cy="86410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32511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Prepared: May 2026</a:t>
            </a:r>
            <a:pPr indent="0" marL="0">
              <a:buNone/>
            </a:pPr>
            <a:r>
              <a:rPr lang="en-US" sz="120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2 Developers</a:t>
            </a:r>
            <a:pPr indent="0" marL="0">
              <a:buNone/>
            </a:pPr>
            <a:r>
              <a:rPr lang="en-US" sz="120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pPr indent="0" marL="0">
              <a:buNone/>
            </a:pPr>
            <a:r>
              <a:rPr lang="en-US" sz="120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Comcast × TCS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— AI Tool for Learning And Search  |  Comcast × TCS  |  Confidential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01168" y="777240"/>
            <a:ext cx="20116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777240"/>
            <a:ext cx="2011680" cy="91440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" y="85039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~18,200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01168" y="166420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23160" y="777240"/>
            <a:ext cx="20116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23160" y="777240"/>
            <a:ext cx="201168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2423160" y="85039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2423160" y="166420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45152" y="777240"/>
            <a:ext cx="20116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45152" y="777240"/>
            <a:ext cx="2011680" cy="914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7" name="Text 15"/>
          <p:cNvSpPr/>
          <p:nvPr/>
        </p:nvSpPr>
        <p:spPr>
          <a:xfrm>
            <a:off x="4645152" y="85039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645152" y="166420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Calendar Months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67144" y="777240"/>
            <a:ext cx="20116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67144" y="777240"/>
            <a:ext cx="201168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6867144" y="85039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6867144" y="166420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Person-Days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2340864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is a RAG (Retrieval-Augmented Generation) application with a Python/FastAPI backend, React/TypeScript frontend, and containerized infrastructure (Podman Compose). Two developers working in parallel — one backend-focused, one frontend-focused — can deliver the full application in 8 weeks (2 calendar months).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28600" y="2999232"/>
            <a:ext cx="8686800" cy="1417320"/>
          </a:xfrm>
          <a:prstGeom prst="rect">
            <a:avLst/>
          </a:prstGeom>
          <a:solidFill>
            <a:srgbClr val="EEF4FF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" y="2999232"/>
            <a:ext cx="91440" cy="1417320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3044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11480" y="3355848"/>
            <a:ext cx="83667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A (Backend)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builds the RAG pipeline, APIs, and integrations.
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B (Frontend + DevOps)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builds the chat UI, Podman infrastructure, and testing.
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use AI coding assistants (GitHub Copilot)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reducing boilerplate and test effort by ~25%.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Composition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— AI Tool for Learning And Search  |  Comcast × TCS  |  Confidential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786384"/>
            <a:ext cx="4297680" cy="4041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86384"/>
            <a:ext cx="4297680" cy="475488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" y="786384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A — Backend Developer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133502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08760" y="133502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Mid-Senior (3+ years)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168249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08760" y="168249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Days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202996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08760" y="20299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23957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Skills Required: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2697480"/>
            <a:ext cx="4005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async / FastAPI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65760" y="3026664"/>
            <a:ext cx="4005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 + SQL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65760" y="3355848"/>
            <a:ext cx="4005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LLM/RAG concepts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65760" y="3685032"/>
            <a:ext cx="4005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 API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65760" y="4014216"/>
            <a:ext cx="4005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 (Qdrant)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09160" y="786384"/>
            <a:ext cx="4297680" cy="4041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786384"/>
            <a:ext cx="4297680" cy="4754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4709160" y="786384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B — Frontend + DevOps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46320" y="133502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89320" y="133502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Mid-Senior (3+ years)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168249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89320" y="168249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Days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202996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989320" y="20299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46320" y="23957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Skills Required: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46320" y="2697480"/>
            <a:ext cx="4005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846320" y="3026664"/>
            <a:ext cx="4005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Podman Compose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846320" y="3355848"/>
            <a:ext cx="4005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+ GitHub Actions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846320" y="3685032"/>
            <a:ext cx="4005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basics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846320" y="4014216"/>
            <a:ext cx="4005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(vitest, k6)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228600" y="4873752"/>
            <a:ext cx="8686800" cy="34747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8" name="Text 36"/>
          <p:cNvSpPr/>
          <p:nvPr/>
        </p:nvSpPr>
        <p:spPr>
          <a:xfrm>
            <a:off x="228600" y="4873752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80 person-days  =  2 developers × 40 working days  =  8 weeks elapsed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— Weeks 1 &amp; 2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— AI Tool for Learning And Search  |  Comcast × TCS  |  Confidential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" y="758952"/>
            <a:ext cx="822960" cy="19202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8" name="Text 6"/>
          <p:cNvSpPr/>
          <p:nvPr/>
        </p:nvSpPr>
        <p:spPr>
          <a:xfrm rot="16200000">
            <a:off x="109728" y="758952"/>
            <a:ext cx="822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05840" y="758952"/>
            <a:ext cx="37033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05840" y="758952"/>
            <a:ext cx="3703320" cy="347472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75895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A — Backend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78992" y="1143000"/>
            <a:ext cx="3547872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setup, FastAPI skeleton, pydantic-settings config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 REST API client (pagination, auth)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parser + sentence-aware text chunker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956048" y="758952"/>
            <a:ext cx="40690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56048" y="758952"/>
            <a:ext cx="406908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956048" y="75895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B — Frontend + DevOps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1143000"/>
            <a:ext cx="3913632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project setup (Vite + TypeScript)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Podman Compose: backend + qdrant + ollama + frontend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chat UI layout (ChatContainer, ChatInput, MessageList)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9728" y="2843784"/>
            <a:ext cx="822960" cy="19202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8" name="Text 16"/>
          <p:cNvSpPr/>
          <p:nvPr/>
        </p:nvSpPr>
        <p:spPr>
          <a:xfrm rot="16200000">
            <a:off x="109728" y="2843784"/>
            <a:ext cx="822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05840" y="2843784"/>
            <a:ext cx="37033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05840" y="2843784"/>
            <a:ext cx="3703320" cy="347472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2843784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A — Backend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78992" y="3227832"/>
            <a:ext cx="3547872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service (Ollama nomic-embed-text)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vector store (upsert, search, delete)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endpoint (full refresh + incremental skip)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endpoint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956048" y="2843784"/>
            <a:ext cx="40690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56048" y="2843784"/>
            <a:ext cx="406908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4956048" y="2843784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B — Frontend + DevOps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0" y="3227832"/>
            <a:ext cx="3913632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MessageItem component (Markdown, code blocks, copy)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client service (EventSource streaming)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useChat hook (useReducer + localStorage)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image for frontend (Node build → nginx)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— Weeks 3 &amp; 4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— AI Tool for Learning And Search  |  Comcast × TCS  |  Confidential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" y="758952"/>
            <a:ext cx="822960" cy="19202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8" name="Text 6"/>
          <p:cNvSpPr/>
          <p:nvPr/>
        </p:nvSpPr>
        <p:spPr>
          <a:xfrm rot="16200000">
            <a:off x="109728" y="758952"/>
            <a:ext cx="822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05840" y="758952"/>
            <a:ext cx="37033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05840" y="758952"/>
            <a:ext cx="3703320" cy="347472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75895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A — Backend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78992" y="1143000"/>
            <a:ext cx="3547872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service (retrieve → build context → prompt)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abstraction (Ollama + Azure OpenAI + AMA Bespoke)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endpoint with SSE streaming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citation injection in stream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956048" y="758952"/>
            <a:ext cx="40690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56048" y="758952"/>
            <a:ext cx="406908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956048" y="75895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B — Frontend + DevOps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1143000"/>
            <a:ext cx="3913632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citations component (clickable links)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sidebar (list, search, rename, delete)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useFolders + useConversations hooks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Dark/light theme toggle (useTheme)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9728" y="2843784"/>
            <a:ext cx="822960" cy="19202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8" name="Text 16"/>
          <p:cNvSpPr/>
          <p:nvPr/>
        </p:nvSpPr>
        <p:spPr>
          <a:xfrm rot="16200000">
            <a:off x="109728" y="2843784"/>
            <a:ext cx="822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05840" y="2843784"/>
            <a:ext cx="37033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05840" y="2843784"/>
            <a:ext cx="3703320" cy="347472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2843784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A — Backend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78992" y="3227832"/>
            <a:ext cx="3547872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persistence (SQLite store)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cache (skip LLM for repeated queries)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rewriter (LLM rewrites vague questions)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+ input guardrails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956048" y="2843784"/>
            <a:ext cx="40690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56048" y="2843784"/>
            <a:ext cx="406908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4956048" y="2843784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B — Frontend + DevOps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0" y="3227832"/>
            <a:ext cx="3913632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 UI (drag &amp; drop)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Mermaid diagram + image block rendering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popup + query suggestions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boundary + responsive layout polish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— Weeks 5 &amp; 6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— AI Tool for Learning And Search  |  Comcast × TCS  |  Confidential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" y="758952"/>
            <a:ext cx="822960" cy="19202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8" name="Text 6"/>
          <p:cNvSpPr/>
          <p:nvPr/>
        </p:nvSpPr>
        <p:spPr>
          <a:xfrm rot="16200000">
            <a:off x="109728" y="758952"/>
            <a:ext cx="822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05840" y="758952"/>
            <a:ext cx="37033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05840" y="758952"/>
            <a:ext cx="3703320" cy="347472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75895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A — Backend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78992" y="1143000"/>
            <a:ext cx="3547872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Authentication: JWT, user store, login/register API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auth + RBAC space access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collection endpoint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Re-ranker (cross-encoder LLM scoring)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956048" y="758952"/>
            <a:ext cx="40690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56048" y="758952"/>
            <a:ext cx="406908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956048" y="75895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B — Frontend + DevOps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1143000"/>
            <a:ext cx="3913632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page + AuthContext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dashboard (admin view)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test suite (vitest: hooks + components)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run.ps1 / run.sh automation scripts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9728" y="2843784"/>
            <a:ext cx="822960" cy="19202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8" name="Text 16"/>
          <p:cNvSpPr/>
          <p:nvPr/>
        </p:nvSpPr>
        <p:spPr>
          <a:xfrm rot="16200000">
            <a:off x="109728" y="2843784"/>
            <a:ext cx="822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05840" y="2843784"/>
            <a:ext cx="37033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05840" y="2843784"/>
            <a:ext cx="3703320" cy="347472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2843784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A — Backend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78992" y="3227832"/>
            <a:ext cx="3547872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integration (REST client + issue-to-chunks)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integration (file/PR ingestion)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router (multi-source query routing)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parser service (PDF, DOCX, CSV)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956048" y="2843784"/>
            <a:ext cx="40690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56048" y="2843784"/>
            <a:ext cx="406908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4956048" y="2843784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B — Frontend + DevOps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0" y="3227832"/>
            <a:ext cx="3913632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mode (cert generation, nginx HTTPS)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stack profile (Elasticsearch + Kibana)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profile + Alembic migrations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 load test scripts (smoke, load, stress)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— Weeks 7 &amp; 8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— AI Tool for Learning And Search  |  Comcast × TCS  |  Confidential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" y="758952"/>
            <a:ext cx="822960" cy="19202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8" name="Text 6"/>
          <p:cNvSpPr/>
          <p:nvPr/>
        </p:nvSpPr>
        <p:spPr>
          <a:xfrm rot="16200000">
            <a:off x="109728" y="758952"/>
            <a:ext cx="822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05840" y="758952"/>
            <a:ext cx="37033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05840" y="758952"/>
            <a:ext cx="3703320" cy="347472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75895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A — Backend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78992" y="1143000"/>
            <a:ext cx="3547872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for VS Code Copilot (stdio proxy)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FlowIntel MCP client (SAT auth, tool discovery)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bot + Teams bot integration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SSO/OIDC integration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956048" y="758952"/>
            <a:ext cx="40690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56048" y="758952"/>
            <a:ext cx="406908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956048" y="75895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B — Frontend + DevOps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1143000"/>
            <a:ext cx="3913632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manifests (deployments, HPA, ingress)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(GitHub Actions)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+ Prometheus metrics setup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proxy CA cert injection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9728" y="2843784"/>
            <a:ext cx="822960" cy="19202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8" name="Text 16"/>
          <p:cNvSpPr/>
          <p:nvPr/>
        </p:nvSpPr>
        <p:spPr>
          <a:xfrm rot="16200000">
            <a:off x="109728" y="2843784"/>
            <a:ext cx="822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05840" y="2843784"/>
            <a:ext cx="37033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05840" y="2843784"/>
            <a:ext cx="3703320" cy="347472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2843784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A — Backend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78992" y="3227832"/>
            <a:ext cx="3547872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test suite (pytest, unit + integration)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extraction (Cognee-lite)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fixes, edge cases, security hardening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documentation (OpenAPI/Swagger)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956048" y="2843784"/>
            <a:ext cx="40690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56048" y="2843784"/>
            <a:ext cx="406908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4956048" y="2843784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B — Frontend + DevOps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0" y="3227832"/>
            <a:ext cx="3913632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testing + bug fixes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(README, .env.example, AGENTS.md)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tuning + load testing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deployment verification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View — 8-Week Delivery Plan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— AI Tool for Learning And Search  |  Comcast × TCS  |  Confidential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12848" y="749808"/>
            <a:ext cx="822960" cy="29260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8" name="Text 6"/>
          <p:cNvSpPr/>
          <p:nvPr/>
        </p:nvSpPr>
        <p:spPr>
          <a:xfrm>
            <a:off x="2212848" y="74980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54096" y="749808"/>
            <a:ext cx="822960" cy="292608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10" name="Text 8"/>
          <p:cNvSpPr/>
          <p:nvPr/>
        </p:nvSpPr>
        <p:spPr>
          <a:xfrm>
            <a:off x="3054096" y="74980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95344" y="749808"/>
            <a:ext cx="822960" cy="29260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2" name="Text 10"/>
          <p:cNvSpPr/>
          <p:nvPr/>
        </p:nvSpPr>
        <p:spPr>
          <a:xfrm>
            <a:off x="3895344" y="74980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36592" y="749808"/>
            <a:ext cx="822960" cy="292608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14" name="Text 12"/>
          <p:cNvSpPr/>
          <p:nvPr/>
        </p:nvSpPr>
        <p:spPr>
          <a:xfrm>
            <a:off x="4736592" y="74980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Wk4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77840" y="749808"/>
            <a:ext cx="822960" cy="29260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6" name="Text 14"/>
          <p:cNvSpPr/>
          <p:nvPr/>
        </p:nvSpPr>
        <p:spPr>
          <a:xfrm>
            <a:off x="5577840" y="74980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19088" y="749808"/>
            <a:ext cx="822960" cy="292608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18" name="Text 16"/>
          <p:cNvSpPr/>
          <p:nvPr/>
        </p:nvSpPr>
        <p:spPr>
          <a:xfrm>
            <a:off x="6419088" y="74980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Wk6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60336" y="749808"/>
            <a:ext cx="822960" cy="29260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0" name="Text 18"/>
          <p:cNvSpPr/>
          <p:nvPr/>
        </p:nvSpPr>
        <p:spPr>
          <a:xfrm>
            <a:off x="7260336" y="74980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Wk7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01584" y="749808"/>
            <a:ext cx="822960" cy="292608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22" name="Text 20"/>
          <p:cNvSpPr/>
          <p:nvPr/>
        </p:nvSpPr>
        <p:spPr>
          <a:xfrm>
            <a:off x="8101584" y="74980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Wk8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37160" y="1097280"/>
            <a:ext cx="2029968" cy="3246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201168" y="1097280"/>
            <a:ext cx="193852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RAG Pipeline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212848" y="1143000"/>
            <a:ext cx="1627632" cy="237744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26" name="Text 24"/>
          <p:cNvSpPr/>
          <p:nvPr/>
        </p:nvSpPr>
        <p:spPr>
          <a:xfrm>
            <a:off x="2212848" y="1143000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37160" y="1440180"/>
            <a:ext cx="2029968" cy="3246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8" name="Text 26"/>
          <p:cNvSpPr/>
          <p:nvPr/>
        </p:nvSpPr>
        <p:spPr>
          <a:xfrm>
            <a:off x="201168" y="1440180"/>
            <a:ext cx="193852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 &amp; Frontend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212848" y="1485900"/>
            <a:ext cx="3310128" cy="2377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2212848" y="1485900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37160" y="1783080"/>
            <a:ext cx="2029968" cy="3246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201168" y="1783080"/>
            <a:ext cx="193852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Streaming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895344" y="1828800"/>
            <a:ext cx="786384" cy="237744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34" name="Text 32"/>
          <p:cNvSpPr/>
          <p:nvPr/>
        </p:nvSpPr>
        <p:spPr>
          <a:xfrm>
            <a:off x="3895344" y="182880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37160" y="2125980"/>
            <a:ext cx="2029968" cy="3246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6" name="Text 34"/>
          <p:cNvSpPr/>
          <p:nvPr/>
        </p:nvSpPr>
        <p:spPr>
          <a:xfrm>
            <a:off x="201168" y="2125980"/>
            <a:ext cx="193852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Enterprise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577840" y="2171700"/>
            <a:ext cx="786384" cy="237744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38" name="Text 36"/>
          <p:cNvSpPr/>
          <p:nvPr/>
        </p:nvSpPr>
        <p:spPr>
          <a:xfrm>
            <a:off x="5577840" y="217170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37160" y="2468880"/>
            <a:ext cx="2029968" cy="3246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201168" y="2468880"/>
            <a:ext cx="193852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&amp; DevOps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577840" y="2514600"/>
            <a:ext cx="786384" cy="2377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2" name="Text 40"/>
          <p:cNvSpPr/>
          <p:nvPr/>
        </p:nvSpPr>
        <p:spPr>
          <a:xfrm>
            <a:off x="5577840" y="251460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37160" y="2811780"/>
            <a:ext cx="2029968" cy="3246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4" name="Text 42"/>
          <p:cNvSpPr/>
          <p:nvPr/>
        </p:nvSpPr>
        <p:spPr>
          <a:xfrm>
            <a:off x="201168" y="2811780"/>
            <a:ext cx="193852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 &amp; Bots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260336" y="2857500"/>
            <a:ext cx="786384" cy="237744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46" name="Text 44"/>
          <p:cNvSpPr/>
          <p:nvPr/>
        </p:nvSpPr>
        <p:spPr>
          <a:xfrm>
            <a:off x="7260336" y="285750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37160" y="3154680"/>
            <a:ext cx="2029968" cy="3246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201168" y="3154680"/>
            <a:ext cx="193852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+ CI/CD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260336" y="3200400"/>
            <a:ext cx="786384" cy="2377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0" name="Text 48"/>
          <p:cNvSpPr/>
          <p:nvPr/>
        </p:nvSpPr>
        <p:spPr>
          <a:xfrm>
            <a:off x="7260336" y="320040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37160" y="3497580"/>
            <a:ext cx="2029968" cy="3246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2" name="Text 50"/>
          <p:cNvSpPr/>
          <p:nvPr/>
        </p:nvSpPr>
        <p:spPr>
          <a:xfrm>
            <a:off x="201168" y="3497580"/>
            <a:ext cx="193852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Polish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8101584" y="3543300"/>
            <a:ext cx="786384" cy="23774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54" name="Text 52"/>
          <p:cNvSpPr/>
          <p:nvPr/>
        </p:nvSpPr>
        <p:spPr>
          <a:xfrm>
            <a:off x="8101584" y="354330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137160" y="3858768"/>
            <a:ext cx="8869680" cy="987552"/>
          </a:xfrm>
          <a:prstGeom prst="rect">
            <a:avLst/>
          </a:prstGeom>
          <a:solidFill>
            <a:srgbClr val="EEF4FF"/>
          </a:solidFill>
          <a:ln w="12700">
            <a:solidFill>
              <a:srgbClr val="2D7DD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38862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274320" y="4114800"/>
            <a:ext cx="8686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Week 2: Working prototype — ingest docs, ask questions, get AI answers (backend only)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Week 4: Full demo-ready app — chat UI + streaming + conversations + themes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Week 6: Enterprise features — auth, multi-source ingestion, caching, guardrails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Week 8: Production-ready — tested, load-tested, CI/CD, K8s, documented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Breakdown by Category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— AI Tool for Learning And Search  |  Comcast × TCS  |  Confidential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749808"/>
          <a:ext cx="8814816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640080"/>
                <a:gridCol w="731520"/>
                <a:gridCol w="5157216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RAG Pipeline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7DD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7DD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Confluence client, chunker, embeddings, vector store, RAG service, ingestion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&amp; Streaming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7DD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7DD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Multi-provider LLM, SSE streaming, prompt engineering, semantic cache, rewriter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&amp; Enterprise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7DD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7DD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auth, SSO/OIDC, RBAC, guardrails, re-ranker, entity extraction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7DD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7DD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Jira, GitHub, MCP server, FlowIntel, Slack/Teams bots, file parser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Testing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7DD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7DD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Pytest suite (unit + integration), ~3,500 LOC test coverage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Frontend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UI, conversations, themes, file upload, Markdown/Mermaid, login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Podman &amp; Infrastructure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Podman Compose (12 services), TLS, ELK, PostgreSQL profiles, scripts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CI/CD &amp; Kubernetes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Actions pipeline, K8s manifests, HPA, ingress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Testing &amp; QA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Vitest suite, k6 load tests, docs, final polish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&amp; Learning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concepts, Qdrant, Ollama, LLM APIs (first 2 days each developer)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days per developer × 2 developers = 8 weeks elapsed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Estimation Methodology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— AI Tool for Learning And Search  |  Comcast × TCS  |  Confidential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64592" y="777240"/>
            <a:ext cx="2852928" cy="2670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4592" y="777240"/>
            <a:ext cx="2852928" cy="420624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9" name="Shape 7"/>
          <p:cNvSpPr/>
          <p:nvPr/>
        </p:nvSpPr>
        <p:spPr>
          <a:xfrm>
            <a:off x="256032" y="841248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" y="841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3504" y="80467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Estimation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1243584"/>
            <a:ext cx="2633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feature tasks identified across all sprints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" y="1682496"/>
            <a:ext cx="2633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task estimated individually in hours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74320" y="2121408"/>
            <a:ext cx="2633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aggregated → 80 total person-days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4320" y="2560320"/>
            <a:ext cx="2633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against team velocity benchmarks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154680" y="777240"/>
            <a:ext cx="2852928" cy="2670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54680" y="777240"/>
            <a:ext cx="2852928" cy="42062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Shape 16"/>
          <p:cNvSpPr/>
          <p:nvPr/>
        </p:nvSpPr>
        <p:spPr>
          <a:xfrm>
            <a:off x="3246120" y="841248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3246120" y="841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93592" y="80467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Analysis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64408" y="1243584"/>
            <a:ext cx="2633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codebase: ~18,200 lines of code measured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64408" y="1682496"/>
            <a:ext cx="2633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standard: 50–100 LOC per developer/day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64408" y="2121408"/>
            <a:ext cx="2633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AI assistance: 182–364 dev-days needed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64408" y="2560320"/>
            <a:ext cx="2633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GitHub Copilot (~25% boost): reduced to ~80 days ✅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44768" y="777240"/>
            <a:ext cx="2852928" cy="2670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44768" y="777240"/>
            <a:ext cx="2852928" cy="42062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Shape 25"/>
          <p:cNvSpPr/>
          <p:nvPr/>
        </p:nvSpPr>
        <p:spPr>
          <a:xfrm>
            <a:off x="6236208" y="841248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236208" y="841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83680" y="80467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Velocity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54496" y="1243584"/>
            <a:ext cx="2633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sprints × 2 weeks each = 8 weeks total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54496" y="1682496"/>
            <a:ext cx="2633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story points per developer per sprint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54496" y="2121408"/>
            <a:ext cx="2633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total story points across full delivery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54496" y="2560320"/>
            <a:ext cx="26334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with mid-senior developer benchmarks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64592" y="3547872"/>
            <a:ext cx="8814816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92608" y="35844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Confidence &amp; Risk Factors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56032" y="3895344"/>
            <a:ext cx="429768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389534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Confidence ✅ — Core RAG + Frontend (already built &amp; tested)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63440" y="3895344"/>
            <a:ext cx="42062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389534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⚠️ — Infrastructure (corporate proxy/VPN variables)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56032" y="4334256"/>
            <a:ext cx="8705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factors: +1 week VPN/proxy issues  |  +2–3 weeks if junior developers  |  +1 week major scope changes  |  Plan for 9 weeks for guaranteed delivery.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Skills Matrix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— AI Tool for Learning And Search  |  Comcast × TCS  |  Confidential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749808"/>
          <a:ext cx="8814816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914400"/>
                <a:gridCol w="2852928"/>
                <a:gridCol w="2852928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A — Backend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D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B — Frontend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3.10+ (async)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— all backend code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— scripts, debugging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— APIs, SSE, middleware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+ TypeScript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— all frontend code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Podman Compose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— container image build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— 12-service compose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/ Vector DB / LLM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Intermediate — core architecture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— understand the flow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API consumption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— Confluence, Jira, GitHub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— SSE client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(SQLite + PostgreSQL)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Intermediate — user/conversation store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(JWT, OAuth2, OIDC)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Intermediate — backend auth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— login UI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Kubernetes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Intermediate — manifests, HPA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CI/CD (GitHub Actions)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Intermediate — pipeline config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&amp; Dependencies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— AI Tool for Learning And Search  |  Comcast × TCS  |  Confidential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64592" y="786384"/>
            <a:ext cx="4315968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4592" y="786384"/>
            <a:ext cx="475488" cy="914400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" y="786384"/>
            <a:ext cx="47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877824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Coding Assistant Available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188720"/>
            <a:ext cx="3639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developers use GitHub Copilot — reduces boilerplate/test effort by ~25%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45152" y="786384"/>
            <a:ext cx="4315968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45152" y="786384"/>
            <a:ext cx="475488" cy="914400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14" name="Text 12"/>
          <p:cNvSpPr/>
          <p:nvPr/>
        </p:nvSpPr>
        <p:spPr>
          <a:xfrm>
            <a:off x="4645152" y="786384"/>
            <a:ext cx="47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12080" y="877824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 API Access Granted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0" y="1188720"/>
            <a:ext cx="3639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token and space access approved before Week 1 (otherwise use local test docs)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64592" y="1828800"/>
            <a:ext cx="4315968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64592" y="1828800"/>
            <a:ext cx="475488" cy="914400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19" name="Text 17"/>
          <p:cNvSpPr/>
          <p:nvPr/>
        </p:nvSpPr>
        <p:spPr>
          <a:xfrm>
            <a:off x="164592" y="1828800"/>
            <a:ext cx="47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192024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Major Scope Changes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2231136"/>
            <a:ext cx="3639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set as defined; additional sources or UI features would extend timeline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45152" y="1828800"/>
            <a:ext cx="4315968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45152" y="1828800"/>
            <a:ext cx="475488" cy="914400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24" name="Text 22"/>
          <p:cNvSpPr/>
          <p:nvPr/>
        </p:nvSpPr>
        <p:spPr>
          <a:xfrm>
            <a:off x="4645152" y="1828800"/>
            <a:ext cx="47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212080" y="192024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Podman Available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12080" y="2231136"/>
            <a:ext cx="3639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developers have Podman installed (enterprise-approved, replaces Docker Desktop)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64592" y="2871216"/>
            <a:ext cx="4315968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64592" y="2871216"/>
            <a:ext cx="475488" cy="914400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29" name="Text 27"/>
          <p:cNvSpPr/>
          <p:nvPr/>
        </p:nvSpPr>
        <p:spPr>
          <a:xfrm>
            <a:off x="164592" y="2871216"/>
            <a:ext cx="47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31520" y="296265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7–8 Productive Hours/Day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1520" y="3273552"/>
            <a:ext cx="3639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context-switching to other projects during the 8-week sprint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45152" y="2871216"/>
            <a:ext cx="4315968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45152" y="2871216"/>
            <a:ext cx="475488" cy="914400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34" name="Text 32"/>
          <p:cNvSpPr/>
          <p:nvPr/>
        </p:nvSpPr>
        <p:spPr>
          <a:xfrm>
            <a:off x="4645152" y="2871216"/>
            <a:ext cx="47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212080" y="2962656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Mid-Senior Developers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212080" y="3273552"/>
            <a:ext cx="3639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years experience; if junior developers, add 2–3 weeks buffer to the plan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64592" y="3968496"/>
            <a:ext cx="8814816" cy="914400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64592" y="3968496"/>
            <a:ext cx="91440" cy="914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9" name="Text 37"/>
          <p:cNvSpPr/>
          <p:nvPr/>
        </p:nvSpPr>
        <p:spPr>
          <a:xfrm>
            <a:off x="320040" y="40050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Buffer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20040" y="426110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8-week plan has ~3 days of slack per developer built into Week 8. If corporate environment issues arise (proxy, VPN, access requests), this buffer absorbs 1 week of delays. For guaranteed delivery, plan for 9 weeks.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Summary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— AI Tool for Learning And Search  |  Comcast × TCS  |  Confidential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64592" y="777240"/>
            <a:ext cx="4279392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4592" y="777240"/>
            <a:ext cx="4279392" cy="457200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85039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43584" y="832104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RAG Prototype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1752" y="1307592"/>
            <a:ext cx="4059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Confluence docs → ask questions → get AI answers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" y="1728216"/>
            <a:ext cx="4059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pipeline proven end-to-end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" y="2148840"/>
            <a:ext cx="4059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internal engineering validation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777240"/>
            <a:ext cx="4279392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777240"/>
            <a:ext cx="4279392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773168" y="85039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42432" y="832104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Demo-Ready Application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00600" y="1307592"/>
            <a:ext cx="4059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chat UI with streaming responses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1728216"/>
            <a:ext cx="4059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 + dark/light mode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2148840"/>
            <a:ext cx="4059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stakeholder demonstration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64592" y="2862072"/>
            <a:ext cx="4279392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64592" y="2862072"/>
            <a:ext cx="4279392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293522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43584" y="2916936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Features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01752" y="3392424"/>
            <a:ext cx="4059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(JWT + RBAC), Jira/GitHub ingestion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01752" y="3813048"/>
            <a:ext cx="4059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caching, guardrails, file upload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01752" y="4233672"/>
            <a:ext cx="4059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intent routing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2862072"/>
            <a:ext cx="4279392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2862072"/>
            <a:ext cx="4279392" cy="4572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0" name="Text 28"/>
          <p:cNvSpPr/>
          <p:nvPr/>
        </p:nvSpPr>
        <p:spPr>
          <a:xfrm>
            <a:off x="4773168" y="293522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742432" y="2916936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Package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00600" y="3392424"/>
            <a:ext cx="4059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CI/CD, K8s manifests, load tests complete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00600" y="3813048"/>
            <a:ext cx="4059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Slack/Teams bots, MCP server operational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00600" y="4233672"/>
            <a:ext cx="4059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documentation, performance verified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Cost Estimate — AWS EC2 + LLM (Enterprise Scale)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— AI Tool for Learning And Search  |  Comcast × TCS  |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01168" y="7680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Phase (One-Time)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1051560"/>
          <a:ext cx="8741664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426464"/>
                <a:gridCol w="42976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Basis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 A (Backend)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7DD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resource rate card (TCS)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 B (Frontend + DevOps)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resource rate card (TCS)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Dev/Test Infrastructure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weeks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 — Podman on developer laptops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LLM costs (Ollama/AMA Bespoke)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weeks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 — local Ollama or Comcast FlowContext (internal)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201168" y="2633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Monthly Infrastructure — AWS EC2/ECS/EKS</a:t>
            </a:r>
            <a:endParaRPr lang="en-US" sz="13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2907792"/>
          <a:ext cx="8741664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011680"/>
                <a:gridCol w="1188720"/>
                <a:gridCol w="3346704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Instance / Config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Server (EC2/ECS)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t3.xlarge (4 vCPU, 16 GB)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7DD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 backend + nginx frontend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Qdrant Vector DB (EC2)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m5.large (2 vCPU, 8 GB)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7DD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Persistent EBS volume 50GB SSD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(RDS)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db.t3.medium Multi-AZ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7DD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Conversations, feedback, users, graph links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Balancer (ALB)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Load Balancer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7DD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 termination + routing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AWS Infrastructure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Production-grade HA setup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~$290/mo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Scales to 500+ concurrent users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Cost Analysis — FlowContext Models &amp; Enterprise User Capacity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— AI Tool for Learning And Search  |  Comcast × TCS  | 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01168" y="768096"/>
            <a:ext cx="8741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FlowContext LLM Options (context.flow.cnap.comcast.net — Comcast Internal Gateway)</a:t>
            </a:r>
            <a:endParaRPr lang="en-US" sz="12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1051560"/>
          <a:ext cx="8741664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822960"/>
                <a:gridCol w="822960"/>
                <a:gridCol w="822960"/>
                <a:gridCol w="914400"/>
                <a:gridCol w="1188720"/>
                <a:gridCol w="1609344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Input/1M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Output/1M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Cost/Query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Users/Mo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gpt-5-nano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~$0.0002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7DD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 Cheap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gpt-5-mini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7DD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Value 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claude-4-6-sonnet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$14.85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~$0.004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Quality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nova-micro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~$0.0003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 Option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201168" y="279806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Production Monthly Cost by User Scale</a:t>
            </a:r>
            <a:endParaRPr lang="en-US" sz="125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3072384"/>
          <a:ext cx="8741664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280160"/>
                <a:gridCol w="1188720"/>
                <a:gridCol w="1280160"/>
                <a:gridCol w="1371600"/>
                <a:gridCol w="1426464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Scale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Queries/Day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Infra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(gpt-5-mini)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TOTAL/Month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Per User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Team (50 users)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~125 queries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~$151/mo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~$3.02/user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Org (200 users)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~500 queries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~$293/mo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~$1.47/user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Enterprise (500 users)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~1,500 queries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~$420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~$429/mo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~$0.86/user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(1,000+ users)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~3,000+ queries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~$650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~$668/mo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~$0.67/user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201168" y="4846320"/>
            <a:ext cx="8741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LLMs accessed via Comcast FlowContext — corporate approved, zero external data transfer. AWS costs estimated for us-east-1 region. Semantic cache reduces LLM calls by 30–60%.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Developer Profiles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4983480"/>
            <a:ext cx="87782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— AI Tool for Learning And Search  |  Comcast × TCS  |  Confidential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64592" y="786384"/>
            <a:ext cx="4315968" cy="4041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4592" y="786384"/>
            <a:ext cx="4315968" cy="457200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" y="786384"/>
            <a:ext cx="4315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A — Backend Developer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1752" y="13167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Experience: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700784" y="131673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years Python development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01752" y="1645920"/>
            <a:ext cx="804672" cy="21945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301752" y="164592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KNOW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01752" y="1901952"/>
            <a:ext cx="4041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/ Flask, async/await patterns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1752" y="2249424"/>
            <a:ext cx="4041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APIs, SQL, database design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" y="2596896"/>
            <a:ext cx="4041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LLM/ML experience with RAG systems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01752" y="2962656"/>
            <a:ext cx="932688" cy="21945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301752" y="2962656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TO HAVE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01752" y="3218688"/>
            <a:ext cx="4041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 API, vector databases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01752" y="3547872"/>
            <a:ext cx="4041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architecture and embedding models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01752" y="3877056"/>
            <a:ext cx="4041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+ observability tooling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64592" y="4572000"/>
            <a:ext cx="4315968" cy="347472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23" name="Text 21"/>
          <p:cNvSpPr/>
          <p:nvPr/>
        </p:nvSpPr>
        <p:spPr>
          <a:xfrm>
            <a:off x="256032" y="4572000"/>
            <a:ext cx="4133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Title: Senior Python Developer / Backend Engineer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786384"/>
            <a:ext cx="4315968" cy="4041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786384"/>
            <a:ext cx="4315968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786384"/>
            <a:ext cx="4315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B — Frontend + DevOps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92040" y="13167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Experience: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291072" y="131673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years React/TypeScript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892040" y="1645920"/>
            <a:ext cx="804672" cy="21945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8"/>
          <p:cNvSpPr/>
          <p:nvPr/>
        </p:nvSpPr>
        <p:spPr>
          <a:xfrm>
            <a:off x="4892040" y="164592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KNOW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92040" y="1901952"/>
            <a:ext cx="4041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hooks, TypeScript, Vite build tooling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92040" y="2249424"/>
            <a:ext cx="4041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Podman Compose, container orchestration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92040" y="2596896"/>
            <a:ext cx="4041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basics with GitHub Actions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92040" y="2962656"/>
            <a:ext cx="932688" cy="21945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5" name="Text 33"/>
          <p:cNvSpPr/>
          <p:nvPr/>
        </p:nvSpPr>
        <p:spPr>
          <a:xfrm>
            <a:off x="4892040" y="2962656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TO HAVE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92040" y="3218688"/>
            <a:ext cx="4041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Kubernetes, nginx, ELK stack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92040" y="3547872"/>
            <a:ext cx="4041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 load testing, vitest unit testing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92040" y="3877056"/>
            <a:ext cx="4041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+ Prometheus metrics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754880" y="4572000"/>
            <a:ext cx="4315968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0" name="Text 38"/>
          <p:cNvSpPr/>
          <p:nvPr/>
        </p:nvSpPr>
        <p:spPr>
          <a:xfrm>
            <a:off x="4846320" y="4572000"/>
            <a:ext cx="4133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Title: Senior Frontend Developer / Full-Stack Engineer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822960"/>
            <a:ext cx="3200400" cy="3200400"/>
          </a:xfrm>
          <a:prstGeom prst="ellipse">
            <a:avLst/>
          </a:prstGeom>
          <a:solidFill>
            <a:srgbClr val="1B3A6B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57200"/>
            <a:ext cx="2011680" cy="2011680"/>
          </a:xfrm>
          <a:prstGeom prst="ellipse">
            <a:avLst/>
          </a:prstGeom>
          <a:solidFill>
            <a:srgbClr val="2D7DD2">
              <a:alpha val="3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256032"/>
            <a:ext cx="1371600" cy="475488"/>
          </a:xfrm>
          <a:prstGeom prst="rect">
            <a:avLst/>
          </a:prstGeom>
          <a:solidFill>
            <a:srgbClr val="2D7DD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5603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498080" y="256032"/>
            <a:ext cx="1371600" cy="47548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0" y="25603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96012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6200" dirty="0"/>
          </a:p>
        </p:txBody>
      </p:sp>
      <p:sp>
        <p:nvSpPr>
          <p:cNvPr id="10" name="Text 8"/>
          <p:cNvSpPr/>
          <p:nvPr/>
        </p:nvSpPr>
        <p:spPr>
          <a:xfrm>
            <a:off x="365760" y="193852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— AI Tool for Learning And Search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5760" y="23591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RAG-Powered Internal Knowledge Assistant  |  Comcast × TCS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0" y="4279392"/>
            <a:ext cx="9144000" cy="86410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432511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523 Tests</a:t>
            </a:r>
            <a:pPr algn="ctr" indent="0" marL="0">
              <a:buNone/>
            </a:pPr>
            <a:r>
              <a:rPr lang="en-US" sz="120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18,200 LOC</a:t>
            </a:r>
            <a:pPr algn="ctr" indent="0" marL="0">
              <a:buNone/>
            </a:pPr>
            <a:r>
              <a:rPr lang="en-US" sz="120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</a:t>
            </a:r>
            <a:pPr algn="ctr" indent="0" marL="0">
              <a:buNone/>
            </a:pPr>
            <a:r>
              <a:rPr lang="en-US" sz="120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Developers</a:t>
            </a:r>
            <a:pPr algn="ctr" indent="0" marL="0">
              <a:buNone/>
            </a:pPr>
            <a:r>
              <a:rPr lang="en-US" sz="1200" dirty="0">
                <a:solidFill>
                  <a:srgbClr val="2D7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~$293/month for 200 users (AWS + FlowContext)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ATLAS - Development Effort Estimate</dc:title>
  <dc:subject>PptxGenJS Presentation</dc:subject>
  <dc:creator>PptxGenJS</dc:creator>
  <cp:lastModifiedBy>PptxGenJS</cp:lastModifiedBy>
  <cp:revision>1</cp:revision>
  <dcterms:created xsi:type="dcterms:W3CDTF">2026-05-13T00:07:40Z</dcterms:created>
  <dcterms:modified xsi:type="dcterms:W3CDTF">2026-05-13T00:07:40Z</dcterms:modified>
</cp:coreProperties>
</file>